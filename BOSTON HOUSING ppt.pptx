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7/17/2024</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7/17/2024</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515A0-5C5B-44A7-9BAA-A9C925D01C5C}"/>
              </a:ext>
            </a:extLst>
          </p:cNvPr>
          <p:cNvSpPr>
            <a:spLocks noGrp="1"/>
          </p:cNvSpPr>
          <p:nvPr>
            <p:ph type="ctrTitle"/>
          </p:nvPr>
        </p:nvSpPr>
        <p:spPr/>
        <p:txBody>
          <a:bodyPr/>
          <a:lstStyle/>
          <a:p>
            <a:r>
              <a:rPr lang="en-IN" b="1" u="sng" dirty="0"/>
              <a:t>BOSTON HOUSING…</a:t>
            </a:r>
          </a:p>
        </p:txBody>
      </p:sp>
      <p:sp>
        <p:nvSpPr>
          <p:cNvPr id="3" name="Subtitle 2">
            <a:extLst>
              <a:ext uri="{FF2B5EF4-FFF2-40B4-BE49-F238E27FC236}">
                <a16:creationId xmlns:a16="http://schemas.microsoft.com/office/drawing/2014/main" id="{28EEC94F-CEB8-4DA6-B0D6-03B6B7B90A55}"/>
              </a:ext>
            </a:extLst>
          </p:cNvPr>
          <p:cNvSpPr>
            <a:spLocks noGrp="1"/>
          </p:cNvSpPr>
          <p:nvPr>
            <p:ph type="subTitle" idx="1"/>
          </p:nvPr>
        </p:nvSpPr>
        <p:spPr>
          <a:xfrm>
            <a:off x="1751012" y="4988858"/>
            <a:ext cx="8676222" cy="802341"/>
          </a:xfrm>
        </p:spPr>
        <p:txBody>
          <a:bodyPr>
            <a:normAutofit/>
          </a:bodyPr>
          <a:lstStyle/>
          <a:p>
            <a:pPr algn="r"/>
            <a:r>
              <a:rPr lang="en-IN" sz="1800" dirty="0"/>
              <a:t>Project by:-</a:t>
            </a:r>
            <a:r>
              <a:rPr lang="en-IN" sz="1800" dirty="0" err="1"/>
              <a:t>nimbalkar</a:t>
            </a:r>
            <a:r>
              <a:rPr lang="en-IN" sz="1800" dirty="0"/>
              <a:t> </a:t>
            </a:r>
            <a:r>
              <a:rPr lang="en-IN" sz="1800" dirty="0" err="1"/>
              <a:t>hrushikesh</a:t>
            </a:r>
            <a:endParaRPr lang="en-IN" sz="1800" dirty="0"/>
          </a:p>
        </p:txBody>
      </p:sp>
    </p:spTree>
    <p:extLst>
      <p:ext uri="{BB962C8B-B14F-4D97-AF65-F5344CB8AC3E}">
        <p14:creationId xmlns:p14="http://schemas.microsoft.com/office/powerpoint/2010/main" val="1557164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0A4587-4544-43E6-BB8D-0C5B486F22E7}"/>
              </a:ext>
            </a:extLst>
          </p:cNvPr>
          <p:cNvSpPr txBox="1"/>
          <p:nvPr/>
        </p:nvSpPr>
        <p:spPr>
          <a:xfrm>
            <a:off x="1855694" y="1089212"/>
            <a:ext cx="8498541" cy="3416320"/>
          </a:xfrm>
          <a:prstGeom prst="rect">
            <a:avLst/>
          </a:prstGeom>
          <a:noFill/>
        </p:spPr>
        <p:txBody>
          <a:bodyPr wrap="square">
            <a:spAutoFit/>
          </a:bodyPr>
          <a:lstStyle/>
          <a:p>
            <a:r>
              <a:rPr lang="en-IN" sz="2400" dirty="0"/>
              <a:t>The Boston Housing dataset is a seminal resource in machine learning, capturing key attributes influencing housing prices across Boston suburbs. Compiled in 1978 by Harrison and </a:t>
            </a:r>
            <a:r>
              <a:rPr lang="en-IN" sz="2400" dirty="0" err="1"/>
              <a:t>Rubinfeld</a:t>
            </a:r>
            <a:r>
              <a:rPr lang="en-IN" sz="2400" dirty="0"/>
              <a:t>, it features 506 instances and 14 variables, including crime rates and accessibility to highways. Widely used for regression analysis, this dataset remains integral for testing predictive models and exploring socioeconomic factors impacting real estate values.</a:t>
            </a:r>
          </a:p>
        </p:txBody>
      </p:sp>
    </p:spTree>
    <p:extLst>
      <p:ext uri="{BB962C8B-B14F-4D97-AF65-F5344CB8AC3E}">
        <p14:creationId xmlns:p14="http://schemas.microsoft.com/office/powerpoint/2010/main" val="1117310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817FAC-14B6-447D-A1EE-474073EBE2EF}"/>
              </a:ext>
            </a:extLst>
          </p:cNvPr>
          <p:cNvSpPr txBox="1"/>
          <p:nvPr/>
        </p:nvSpPr>
        <p:spPr>
          <a:xfrm>
            <a:off x="2901203" y="1373885"/>
            <a:ext cx="6098240" cy="3785652"/>
          </a:xfrm>
          <a:prstGeom prst="rect">
            <a:avLst/>
          </a:prstGeom>
          <a:noFill/>
        </p:spPr>
        <p:txBody>
          <a:bodyPr wrap="square">
            <a:spAutoFit/>
          </a:bodyPr>
          <a:lstStyle/>
          <a:p>
            <a:pPr algn="ctr"/>
            <a:r>
              <a:rPr lang="en-IN" sz="2400" dirty="0"/>
              <a:t>The primary objective behind the Boston Housing dataset is to facilitate research and analysis into the factors influencing housing prices in Boston suburbs. By </a:t>
            </a:r>
            <a:r>
              <a:rPr lang="en-IN" sz="2400" dirty="0" err="1"/>
              <a:t>p.roviding</a:t>
            </a:r>
            <a:r>
              <a:rPr lang="en-IN" sz="2400" dirty="0"/>
              <a:t> detailed information on variables such as crime rates, property tax, and accessibility to highways, the dataset aims to uncover patterns and correlations that can inform housing market predictions</a:t>
            </a:r>
          </a:p>
        </p:txBody>
      </p:sp>
    </p:spTree>
    <p:extLst>
      <p:ext uri="{BB962C8B-B14F-4D97-AF65-F5344CB8AC3E}">
        <p14:creationId xmlns:p14="http://schemas.microsoft.com/office/powerpoint/2010/main" val="1963413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BBB0-1A22-4087-912E-E3CDAD3A07CD}"/>
              </a:ext>
            </a:extLst>
          </p:cNvPr>
          <p:cNvSpPr>
            <a:spLocks noGrp="1"/>
          </p:cNvSpPr>
          <p:nvPr>
            <p:ph type="title"/>
          </p:nvPr>
        </p:nvSpPr>
        <p:spPr/>
        <p:txBody>
          <a:bodyPr>
            <a:normAutofit fontScale="90000"/>
          </a:bodyPr>
          <a:lstStyle/>
          <a:p>
            <a:r>
              <a:rPr lang="en-IN" sz="2400" dirty="0"/>
              <a:t>DASHBOARD</a:t>
            </a:r>
            <a:br>
              <a:rPr lang="en-IN" sz="2400" dirty="0"/>
            </a:br>
            <a:r>
              <a:rPr lang="en-US" sz="1800" dirty="0"/>
              <a:t>The Boston Housing dataset dashboard presents a comprehensive overview of housing market variables in Boston suburbs. It includes visualizations such as Bar charts for exploring relationships between features like crime rates and property values, histograms for understanding data distributions, and maps showing geographical trends.</a:t>
            </a:r>
            <a:br>
              <a:rPr lang="en-IN" sz="2400" dirty="0"/>
            </a:br>
            <a:endParaRPr lang="en-IN" sz="2400" dirty="0"/>
          </a:p>
        </p:txBody>
      </p:sp>
      <p:pic>
        <p:nvPicPr>
          <p:cNvPr id="5" name="Content Placeholder 4">
            <a:extLst>
              <a:ext uri="{FF2B5EF4-FFF2-40B4-BE49-F238E27FC236}">
                <a16:creationId xmlns:a16="http://schemas.microsoft.com/office/drawing/2014/main" id="{9BDF154E-0121-4A38-B54F-030197AB49FE}"/>
              </a:ext>
            </a:extLst>
          </p:cNvPr>
          <p:cNvPicPr>
            <a:picLocks noGrp="1" noChangeAspect="1"/>
          </p:cNvPicPr>
          <p:nvPr>
            <p:ph idx="1"/>
          </p:nvPr>
        </p:nvPicPr>
        <p:blipFill>
          <a:blip r:embed="rId2"/>
          <a:stretch>
            <a:fillRect/>
          </a:stretch>
        </p:blipFill>
        <p:spPr>
          <a:xfrm>
            <a:off x="1933612" y="2667000"/>
            <a:ext cx="8321601" cy="3124200"/>
          </a:xfrm>
        </p:spPr>
      </p:pic>
    </p:spTree>
    <p:extLst>
      <p:ext uri="{BB962C8B-B14F-4D97-AF65-F5344CB8AC3E}">
        <p14:creationId xmlns:p14="http://schemas.microsoft.com/office/powerpoint/2010/main" val="1274665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26EE5-3A7A-4E89-8229-F92B4606D15E}"/>
              </a:ext>
            </a:extLst>
          </p:cNvPr>
          <p:cNvSpPr>
            <a:spLocks noGrp="1"/>
          </p:cNvSpPr>
          <p:nvPr>
            <p:ph type="title"/>
          </p:nvPr>
        </p:nvSpPr>
        <p:spPr/>
        <p:txBody>
          <a:bodyPr/>
          <a:lstStyle/>
          <a:p>
            <a:r>
              <a:rPr lang="en-US" dirty="0"/>
              <a:t>KEY QUESTIONS ADDRESSED BY THE BOSTON HOUSING DATASET</a:t>
            </a:r>
            <a:endParaRPr lang="en-IN" dirty="0"/>
          </a:p>
        </p:txBody>
      </p:sp>
      <p:sp>
        <p:nvSpPr>
          <p:cNvPr id="3" name="Content Placeholder 2">
            <a:extLst>
              <a:ext uri="{FF2B5EF4-FFF2-40B4-BE49-F238E27FC236}">
                <a16:creationId xmlns:a16="http://schemas.microsoft.com/office/drawing/2014/main" id="{F6E8382B-EB89-4EE5-881C-89910EA70D87}"/>
              </a:ext>
            </a:extLst>
          </p:cNvPr>
          <p:cNvSpPr>
            <a:spLocks noGrp="1"/>
          </p:cNvSpPr>
          <p:nvPr>
            <p:ph idx="1"/>
          </p:nvPr>
        </p:nvSpPr>
        <p:spPr/>
        <p:txBody>
          <a:bodyPr/>
          <a:lstStyle/>
          <a:p>
            <a:r>
              <a:rPr lang="en-US" dirty="0"/>
              <a:t>The question set for the Boston Housing dataset typically revolves around understanding the relationships between various socioeconomic and geographical factors and their impact on housing prices in Boston suburbs. Key questions include: How does crime rate. correlate with property values? What effect do tax rates and accessibility to highways have on housing prices? How do neighborhood characteristics like schools and demographics influence real estate demand? These inquiries drive research into developing predictive models that can accurately forecast housing market trends and inform urban planning and policy decisions.</a:t>
            </a:r>
            <a:endParaRPr lang="en-IN" dirty="0"/>
          </a:p>
        </p:txBody>
      </p:sp>
    </p:spTree>
    <p:extLst>
      <p:ext uri="{BB962C8B-B14F-4D97-AF65-F5344CB8AC3E}">
        <p14:creationId xmlns:p14="http://schemas.microsoft.com/office/powerpoint/2010/main" val="4114426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D249D-4221-4978-B804-524A63A949B2}"/>
              </a:ext>
            </a:extLst>
          </p:cNvPr>
          <p:cNvSpPr>
            <a:spLocks noGrp="1"/>
          </p:cNvSpPr>
          <p:nvPr>
            <p:ph type="title"/>
          </p:nvPr>
        </p:nvSpPr>
        <p:spPr/>
        <p:txBody>
          <a:bodyPr>
            <a:normAutofit/>
          </a:bodyPr>
          <a:lstStyle/>
          <a:p>
            <a:r>
              <a:rPr lang="en-IN" dirty="0"/>
              <a:t>QUESTIONS:-</a:t>
            </a:r>
          </a:p>
        </p:txBody>
      </p:sp>
      <p:pic>
        <p:nvPicPr>
          <p:cNvPr id="7" name="Content Placeholder 6">
            <a:extLst>
              <a:ext uri="{FF2B5EF4-FFF2-40B4-BE49-F238E27FC236}">
                <a16:creationId xmlns:a16="http://schemas.microsoft.com/office/drawing/2014/main" id="{7846FB46-5C07-468F-860F-87A93255C9CD}"/>
              </a:ext>
            </a:extLst>
          </p:cNvPr>
          <p:cNvPicPr>
            <a:picLocks noGrp="1" noChangeAspect="1"/>
          </p:cNvPicPr>
          <p:nvPr>
            <p:ph idx="1"/>
          </p:nvPr>
        </p:nvPicPr>
        <p:blipFill>
          <a:blip r:embed="rId2"/>
          <a:stretch>
            <a:fillRect/>
          </a:stretch>
        </p:blipFill>
        <p:spPr>
          <a:xfrm>
            <a:off x="1304365" y="2667000"/>
            <a:ext cx="10287000" cy="3124200"/>
          </a:xfrm>
        </p:spPr>
      </p:pic>
    </p:spTree>
    <p:extLst>
      <p:ext uri="{BB962C8B-B14F-4D97-AF65-F5344CB8AC3E}">
        <p14:creationId xmlns:p14="http://schemas.microsoft.com/office/powerpoint/2010/main" val="149129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34E5D4-13CF-40DB-BC78-793D3A514668}"/>
              </a:ext>
            </a:extLst>
          </p:cNvPr>
          <p:cNvSpPr>
            <a:spLocks noGrp="1"/>
          </p:cNvSpPr>
          <p:nvPr>
            <p:ph type="title"/>
          </p:nvPr>
        </p:nvSpPr>
        <p:spPr/>
        <p:txBody>
          <a:bodyPr/>
          <a:lstStyle/>
          <a:p>
            <a:r>
              <a:rPr lang="en-IN" dirty="0"/>
              <a:t>QUETIONS:-</a:t>
            </a:r>
          </a:p>
        </p:txBody>
      </p:sp>
      <p:pic>
        <p:nvPicPr>
          <p:cNvPr id="9" name="Content Placeholder 8">
            <a:extLst>
              <a:ext uri="{FF2B5EF4-FFF2-40B4-BE49-F238E27FC236}">
                <a16:creationId xmlns:a16="http://schemas.microsoft.com/office/drawing/2014/main" id="{3894863D-B6E4-4F36-B4C9-29F60A7385D4}"/>
              </a:ext>
            </a:extLst>
          </p:cNvPr>
          <p:cNvPicPr>
            <a:picLocks noGrp="1" noChangeAspect="1"/>
          </p:cNvPicPr>
          <p:nvPr>
            <p:ph idx="1"/>
          </p:nvPr>
        </p:nvPicPr>
        <p:blipFill>
          <a:blip r:embed="rId2"/>
          <a:stretch>
            <a:fillRect/>
          </a:stretch>
        </p:blipFill>
        <p:spPr>
          <a:xfrm>
            <a:off x="1035424" y="2667000"/>
            <a:ext cx="10233211" cy="3124200"/>
          </a:xfrm>
        </p:spPr>
      </p:pic>
    </p:spTree>
    <p:extLst>
      <p:ext uri="{BB962C8B-B14F-4D97-AF65-F5344CB8AC3E}">
        <p14:creationId xmlns:p14="http://schemas.microsoft.com/office/powerpoint/2010/main" val="1797773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460E9B-06F4-4FF4-831C-960C3CBA4070}"/>
              </a:ext>
            </a:extLst>
          </p:cNvPr>
          <p:cNvSpPr>
            <a:spLocks noGrp="1"/>
          </p:cNvSpPr>
          <p:nvPr>
            <p:ph type="title"/>
          </p:nvPr>
        </p:nvSpPr>
        <p:spPr/>
        <p:txBody>
          <a:bodyPr>
            <a:normAutofit fontScale="90000"/>
          </a:bodyPr>
          <a:lstStyle/>
          <a:p>
            <a:r>
              <a:rPr lang="en-US" sz="2700" b="1" dirty="0"/>
              <a:t>Highlight the rows having the full-value property -tax rate per $10,000 more the $600</a:t>
            </a:r>
            <a:br>
              <a:rPr lang="en-US" sz="1600" dirty="0"/>
            </a:br>
            <a:br>
              <a:rPr lang="en-US" sz="1600" dirty="0"/>
            </a:br>
            <a:br>
              <a:rPr lang="en-US" sz="1600" dirty="0"/>
            </a:br>
            <a:br>
              <a:rPr lang="en-US" sz="1800" dirty="0"/>
            </a:br>
            <a:r>
              <a:rPr lang="en-US" sz="1800" dirty="0"/>
              <a:t>This scrutiny helps pinpoint areas with higher tax burdens, essential for assessing affordability and economic implications within Boston's housing market landscape.</a:t>
            </a:r>
            <a:br>
              <a:rPr lang="en-US" sz="1600" dirty="0"/>
            </a:br>
            <a:br>
              <a:rPr lang="en-US" sz="1600" dirty="0"/>
            </a:br>
            <a:br>
              <a:rPr lang="en-US" sz="1600" dirty="0"/>
            </a:br>
            <a:br>
              <a:rPr lang="en-US" sz="1600" dirty="0"/>
            </a:br>
            <a:br>
              <a:rPr lang="en-US" sz="1600" dirty="0"/>
            </a:br>
            <a:br>
              <a:rPr lang="en-US" sz="1600" dirty="0"/>
            </a:br>
            <a:endParaRPr lang="en-IN" sz="1600" dirty="0"/>
          </a:p>
        </p:txBody>
      </p:sp>
      <p:sp>
        <p:nvSpPr>
          <p:cNvPr id="6" name="Text Placeholder 5">
            <a:extLst>
              <a:ext uri="{FF2B5EF4-FFF2-40B4-BE49-F238E27FC236}">
                <a16:creationId xmlns:a16="http://schemas.microsoft.com/office/drawing/2014/main" id="{EEDABC6D-4825-4947-A785-47FF52DB6356}"/>
              </a:ext>
            </a:extLst>
          </p:cNvPr>
          <p:cNvSpPr>
            <a:spLocks noGrp="1"/>
          </p:cNvSpPr>
          <p:nvPr>
            <p:ph type="body" sz="quarter" idx="13"/>
          </p:nvPr>
        </p:nvSpPr>
        <p:spPr/>
        <p:txBody>
          <a:bodyPr/>
          <a:lstStyle/>
          <a:p>
            <a:r>
              <a:rPr lang="en-US" dirty="0"/>
              <a:t>FIND AND COUNT THE PUPIL-TEACHER RATIO BY TOWN WHICH IS GREATER THEN OR EQUAL TO 20</a:t>
            </a:r>
            <a:endParaRPr lang="en-IN" dirty="0"/>
          </a:p>
        </p:txBody>
      </p:sp>
      <p:sp>
        <p:nvSpPr>
          <p:cNvPr id="5" name="Text Placeholder 4">
            <a:extLst>
              <a:ext uri="{FF2B5EF4-FFF2-40B4-BE49-F238E27FC236}">
                <a16:creationId xmlns:a16="http://schemas.microsoft.com/office/drawing/2014/main" id="{A49E67FE-3954-4A85-8F7C-F5E8BCB236DF}"/>
              </a:ext>
            </a:extLst>
          </p:cNvPr>
          <p:cNvSpPr>
            <a:spLocks noGrp="1"/>
          </p:cNvSpPr>
          <p:nvPr>
            <p:ph type="body" idx="1"/>
          </p:nvPr>
        </p:nvSpPr>
        <p:spPr/>
        <p:txBody>
          <a:bodyPr/>
          <a:lstStyle/>
          <a:p>
            <a:r>
              <a:rPr lang="en-US" dirty="0"/>
              <a:t>This examination provides insights into educational resources and potential impacts on housing demand and </a:t>
            </a:r>
            <a:r>
              <a:rPr lang="en-US" sz="1600" dirty="0"/>
              <a:t>community</a:t>
            </a:r>
            <a:r>
              <a:rPr lang="en-US" dirty="0"/>
              <a:t> development across Boston suburbs.</a:t>
            </a:r>
            <a:endParaRPr lang="en-IN" dirty="0"/>
          </a:p>
        </p:txBody>
      </p:sp>
    </p:spTree>
    <p:extLst>
      <p:ext uri="{BB962C8B-B14F-4D97-AF65-F5344CB8AC3E}">
        <p14:creationId xmlns:p14="http://schemas.microsoft.com/office/powerpoint/2010/main" val="658686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CBED1F1-7C6C-4423-97E7-776A9F78EAEF}"/>
              </a:ext>
            </a:extLst>
          </p:cNvPr>
          <p:cNvSpPr txBox="1"/>
          <p:nvPr/>
        </p:nvSpPr>
        <p:spPr>
          <a:xfrm>
            <a:off x="506506" y="201707"/>
            <a:ext cx="10533529" cy="707886"/>
          </a:xfrm>
          <a:prstGeom prst="rect">
            <a:avLst/>
          </a:prstGeom>
          <a:noFill/>
        </p:spPr>
        <p:txBody>
          <a:bodyPr wrap="square">
            <a:spAutoFit/>
          </a:bodyPr>
          <a:lstStyle/>
          <a:p>
            <a:pPr algn="ctr"/>
            <a:r>
              <a:rPr lang="en-IN" sz="2000" b="1" dirty="0"/>
              <a:t>TOP FIVE RESIDENTIAL LAND ZONE WITH REFRENCE TO THE AVERAGE LOWER STATUS OF POPULATION</a:t>
            </a:r>
          </a:p>
        </p:txBody>
      </p:sp>
      <p:sp>
        <p:nvSpPr>
          <p:cNvPr id="8" name="TextBox 7">
            <a:extLst>
              <a:ext uri="{FF2B5EF4-FFF2-40B4-BE49-F238E27FC236}">
                <a16:creationId xmlns:a16="http://schemas.microsoft.com/office/drawing/2014/main" id="{DF8D2EE9-5606-4857-B4A8-6701C7D2CEA6}"/>
              </a:ext>
            </a:extLst>
          </p:cNvPr>
          <p:cNvSpPr txBox="1"/>
          <p:nvPr/>
        </p:nvSpPr>
        <p:spPr>
          <a:xfrm>
            <a:off x="242047" y="1653988"/>
            <a:ext cx="4773706" cy="2246769"/>
          </a:xfrm>
          <a:prstGeom prst="rect">
            <a:avLst/>
          </a:prstGeom>
          <a:noFill/>
        </p:spPr>
        <p:txBody>
          <a:bodyPr wrap="square">
            <a:spAutoFit/>
          </a:bodyPr>
          <a:lstStyle/>
          <a:p>
            <a:r>
              <a:rPr lang="en-IN" sz="2000" dirty="0"/>
              <a:t>This analysis sheds light on socioeconomic dynamics within </a:t>
            </a:r>
            <a:r>
              <a:rPr lang="en-IN" sz="2000" dirty="0" err="1"/>
              <a:t>neighborhoods</a:t>
            </a:r>
            <a:r>
              <a:rPr lang="en-IN" sz="2000" dirty="0"/>
              <a:t>, crucial for understanding community demographics and their implications for housing policies and development strategies in Boston.</a:t>
            </a:r>
          </a:p>
        </p:txBody>
      </p:sp>
      <p:sp>
        <p:nvSpPr>
          <p:cNvPr id="10" name="AutoShape 4">
            <a:extLst>
              <a:ext uri="{FF2B5EF4-FFF2-40B4-BE49-F238E27FC236}">
                <a16:creationId xmlns:a16="http://schemas.microsoft.com/office/drawing/2014/main" id="{CA3C77C3-904E-4D56-A616-0FBA54B4B709}"/>
              </a:ext>
            </a:extLst>
          </p:cNvPr>
          <p:cNvSpPr>
            <a:spLocks noChangeAspect="1" noChangeArrowheads="1"/>
          </p:cNvSpPr>
          <p:nvPr/>
        </p:nvSpPr>
        <p:spPr bwMode="auto">
          <a:xfrm>
            <a:off x="5943599" y="1653989"/>
            <a:ext cx="4195483" cy="509195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F6BABB6D-0A98-4E24-A0AA-6814D8D362FE}"/>
              </a:ext>
            </a:extLst>
          </p:cNvPr>
          <p:cNvPicPr>
            <a:picLocks noChangeAspect="1"/>
          </p:cNvPicPr>
          <p:nvPr/>
        </p:nvPicPr>
        <p:blipFill>
          <a:blip r:embed="rId2"/>
          <a:stretch>
            <a:fillRect/>
          </a:stretch>
        </p:blipFill>
        <p:spPr>
          <a:xfrm>
            <a:off x="5446059" y="1704975"/>
            <a:ext cx="6360460" cy="3448050"/>
          </a:xfrm>
          <a:prstGeom prst="rect">
            <a:avLst/>
          </a:prstGeom>
        </p:spPr>
      </p:pic>
    </p:spTree>
    <p:extLst>
      <p:ext uri="{BB962C8B-B14F-4D97-AF65-F5344CB8AC3E}">
        <p14:creationId xmlns:p14="http://schemas.microsoft.com/office/powerpoint/2010/main" val="3459116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9E40B7-4713-4A80-AF36-962845F4D612}"/>
              </a:ext>
            </a:extLst>
          </p:cNvPr>
          <p:cNvSpPr txBox="1"/>
          <p:nvPr/>
        </p:nvSpPr>
        <p:spPr>
          <a:xfrm>
            <a:off x="376518" y="268941"/>
            <a:ext cx="11443447" cy="707886"/>
          </a:xfrm>
          <a:prstGeom prst="rect">
            <a:avLst/>
          </a:prstGeom>
          <a:noFill/>
        </p:spPr>
        <p:txBody>
          <a:bodyPr wrap="square">
            <a:spAutoFit/>
          </a:bodyPr>
          <a:lstStyle/>
          <a:p>
            <a:r>
              <a:rPr lang="en-IN" sz="2000" b="1" dirty="0"/>
              <a:t>WHAT IS THE PER CAPITA CRIME RATE AND THE COUNT OF BLACKS FOR TOP 10 TOWNS IN INCREASING ORDER FOR TOP 10?</a:t>
            </a:r>
          </a:p>
        </p:txBody>
      </p:sp>
      <p:sp>
        <p:nvSpPr>
          <p:cNvPr id="5" name="TextBox 4">
            <a:extLst>
              <a:ext uri="{FF2B5EF4-FFF2-40B4-BE49-F238E27FC236}">
                <a16:creationId xmlns:a16="http://schemas.microsoft.com/office/drawing/2014/main" id="{25B507C7-D64D-43AD-BE4C-49C385BF19DD}"/>
              </a:ext>
            </a:extLst>
          </p:cNvPr>
          <p:cNvSpPr txBox="1"/>
          <p:nvPr/>
        </p:nvSpPr>
        <p:spPr>
          <a:xfrm>
            <a:off x="685800" y="2690336"/>
            <a:ext cx="3065929" cy="3416320"/>
          </a:xfrm>
          <a:prstGeom prst="rect">
            <a:avLst/>
          </a:prstGeom>
          <a:noFill/>
        </p:spPr>
        <p:txBody>
          <a:bodyPr wrap="square">
            <a:spAutoFit/>
          </a:bodyPr>
          <a:lstStyle/>
          <a:p>
            <a:r>
              <a:rPr lang="en-IN" dirty="0"/>
              <a:t>THIS EXAMINATION PROVIDES INSIGHTS INTO CRIME PATTERNS AND DEMOGRAPHIC COMPOSITIONS ACROSS NEIGHBORHOODS, ESSENTIAL FOR UNDERSTANDING SOCIAL DYNAMICS AND INFORMING URBAN POLICY DECISIONS IN BOSTON</a:t>
            </a:r>
          </a:p>
        </p:txBody>
      </p:sp>
      <p:pic>
        <p:nvPicPr>
          <p:cNvPr id="6" name="Picture 5">
            <a:extLst>
              <a:ext uri="{FF2B5EF4-FFF2-40B4-BE49-F238E27FC236}">
                <a16:creationId xmlns:a16="http://schemas.microsoft.com/office/drawing/2014/main" id="{EBDC9475-2120-488F-BB4D-CB437EB365E9}"/>
              </a:ext>
            </a:extLst>
          </p:cNvPr>
          <p:cNvPicPr>
            <a:picLocks noChangeAspect="1"/>
          </p:cNvPicPr>
          <p:nvPr/>
        </p:nvPicPr>
        <p:blipFill>
          <a:blip r:embed="rId2"/>
          <a:stretch>
            <a:fillRect/>
          </a:stretch>
        </p:blipFill>
        <p:spPr>
          <a:xfrm>
            <a:off x="3833812" y="2033587"/>
            <a:ext cx="7986153" cy="3923460"/>
          </a:xfrm>
          <a:prstGeom prst="rect">
            <a:avLst/>
          </a:prstGeom>
        </p:spPr>
      </p:pic>
    </p:spTree>
    <p:extLst>
      <p:ext uri="{BB962C8B-B14F-4D97-AF65-F5344CB8AC3E}">
        <p14:creationId xmlns:p14="http://schemas.microsoft.com/office/powerpoint/2010/main" val="2347140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855F12-B59C-4841-8C9B-5CFB56AB5019}"/>
              </a:ext>
            </a:extLst>
          </p:cNvPr>
          <p:cNvSpPr txBox="1"/>
          <p:nvPr/>
        </p:nvSpPr>
        <p:spPr>
          <a:xfrm>
            <a:off x="228600" y="174812"/>
            <a:ext cx="11806518" cy="1200329"/>
          </a:xfrm>
          <a:prstGeom prst="rect">
            <a:avLst/>
          </a:prstGeom>
          <a:noFill/>
        </p:spPr>
        <p:txBody>
          <a:bodyPr wrap="square">
            <a:spAutoFit/>
          </a:bodyPr>
          <a:lstStyle/>
          <a:p>
            <a:r>
              <a:rPr lang="en-IN" sz="2400" b="1" dirty="0"/>
              <a:t>WHAT IS THE COUNT OF THE FULL-VALUE PROPERTY-TAX RATE PER $10,000 ACROSS DIFFERENT TOWNS (ARRANGE THEM IN DESCENDING ORDER AND FIND FOR TOP 5)</a:t>
            </a:r>
          </a:p>
        </p:txBody>
      </p:sp>
      <p:sp>
        <p:nvSpPr>
          <p:cNvPr id="5" name="TextBox 4">
            <a:extLst>
              <a:ext uri="{FF2B5EF4-FFF2-40B4-BE49-F238E27FC236}">
                <a16:creationId xmlns:a16="http://schemas.microsoft.com/office/drawing/2014/main" id="{ED8454AB-C35F-4C67-9313-28E1DDB4EAB8}"/>
              </a:ext>
            </a:extLst>
          </p:cNvPr>
          <p:cNvSpPr txBox="1"/>
          <p:nvPr/>
        </p:nvSpPr>
        <p:spPr>
          <a:xfrm>
            <a:off x="457200" y="2828836"/>
            <a:ext cx="2904565" cy="2554545"/>
          </a:xfrm>
          <a:prstGeom prst="rect">
            <a:avLst/>
          </a:prstGeom>
          <a:noFill/>
        </p:spPr>
        <p:txBody>
          <a:bodyPr wrap="square">
            <a:spAutoFit/>
          </a:bodyPr>
          <a:lstStyle/>
          <a:p>
            <a:r>
              <a:rPr lang="en-IN" sz="2000" dirty="0"/>
              <a:t>This analysis provides insights into tax distribution patterns, crucial for evaluating fiscal policies and their impacts on housing affordability in Boston suburbs.</a:t>
            </a:r>
          </a:p>
        </p:txBody>
      </p:sp>
      <p:pic>
        <p:nvPicPr>
          <p:cNvPr id="6" name="Picture 5">
            <a:extLst>
              <a:ext uri="{FF2B5EF4-FFF2-40B4-BE49-F238E27FC236}">
                <a16:creationId xmlns:a16="http://schemas.microsoft.com/office/drawing/2014/main" id="{794F42D4-0CF8-40A2-B70B-C55576C638A8}"/>
              </a:ext>
            </a:extLst>
          </p:cNvPr>
          <p:cNvPicPr>
            <a:picLocks noChangeAspect="1"/>
          </p:cNvPicPr>
          <p:nvPr/>
        </p:nvPicPr>
        <p:blipFill>
          <a:blip r:embed="rId2"/>
          <a:stretch>
            <a:fillRect/>
          </a:stretch>
        </p:blipFill>
        <p:spPr>
          <a:xfrm>
            <a:off x="3738562" y="2019299"/>
            <a:ext cx="7409050" cy="3507441"/>
          </a:xfrm>
          <a:prstGeom prst="rect">
            <a:avLst/>
          </a:prstGeom>
        </p:spPr>
      </p:pic>
    </p:spTree>
    <p:extLst>
      <p:ext uri="{BB962C8B-B14F-4D97-AF65-F5344CB8AC3E}">
        <p14:creationId xmlns:p14="http://schemas.microsoft.com/office/powerpoint/2010/main" val="3731435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20B07A-BDA9-4D60-9718-5DF981CE4DA4}"/>
              </a:ext>
            </a:extLst>
          </p:cNvPr>
          <p:cNvSpPr txBox="1"/>
          <p:nvPr/>
        </p:nvSpPr>
        <p:spPr>
          <a:xfrm>
            <a:off x="121024" y="255494"/>
            <a:ext cx="11900647" cy="830997"/>
          </a:xfrm>
          <a:prstGeom prst="rect">
            <a:avLst/>
          </a:prstGeom>
          <a:noFill/>
        </p:spPr>
        <p:txBody>
          <a:bodyPr wrap="square">
            <a:spAutoFit/>
          </a:bodyPr>
          <a:lstStyle/>
          <a:p>
            <a:r>
              <a:rPr lang="en-IN" sz="2400" b="1" dirty="0">
                <a:solidFill>
                  <a:srgbClr val="FF0000"/>
                </a:solidFill>
              </a:rPr>
              <a:t>HOW DOES THE SUM OF PUPIL-TEACHER RATIO COMPARE WITH THE SUM OF PERCENTAGE OF THE POPULATION IN LOWER STATUS BY TOWN? (FOR TOP 5)</a:t>
            </a:r>
          </a:p>
        </p:txBody>
      </p:sp>
      <p:sp>
        <p:nvSpPr>
          <p:cNvPr id="5" name="TextBox 4">
            <a:extLst>
              <a:ext uri="{FF2B5EF4-FFF2-40B4-BE49-F238E27FC236}">
                <a16:creationId xmlns:a16="http://schemas.microsoft.com/office/drawing/2014/main" id="{1ED3519E-5071-4E52-9BE7-6C17DDE59700}"/>
              </a:ext>
            </a:extLst>
          </p:cNvPr>
          <p:cNvSpPr txBox="1"/>
          <p:nvPr/>
        </p:nvSpPr>
        <p:spPr>
          <a:xfrm>
            <a:off x="551329" y="2690336"/>
            <a:ext cx="3307977" cy="3477875"/>
          </a:xfrm>
          <a:prstGeom prst="rect">
            <a:avLst/>
          </a:prstGeom>
          <a:noFill/>
        </p:spPr>
        <p:txBody>
          <a:bodyPr wrap="square">
            <a:spAutoFit/>
          </a:bodyPr>
          <a:lstStyle/>
          <a:p>
            <a:r>
              <a:rPr lang="en-IN" sz="2000" dirty="0"/>
              <a:t>This comparison offers insights into educational resource allocation and socioeconomic disparities within communities, essential for understanding local dynamics and informing equitable development strategies in Boston suburbs.</a:t>
            </a:r>
          </a:p>
        </p:txBody>
      </p:sp>
      <p:pic>
        <p:nvPicPr>
          <p:cNvPr id="6" name="Picture 5">
            <a:extLst>
              <a:ext uri="{FF2B5EF4-FFF2-40B4-BE49-F238E27FC236}">
                <a16:creationId xmlns:a16="http://schemas.microsoft.com/office/drawing/2014/main" id="{3038F6A1-CEB2-4076-B33D-FC94E6D0DFE2}"/>
              </a:ext>
            </a:extLst>
          </p:cNvPr>
          <p:cNvPicPr>
            <a:picLocks noChangeAspect="1"/>
          </p:cNvPicPr>
          <p:nvPr/>
        </p:nvPicPr>
        <p:blipFill>
          <a:blip r:embed="rId2"/>
          <a:stretch>
            <a:fillRect/>
          </a:stretch>
        </p:blipFill>
        <p:spPr>
          <a:xfrm>
            <a:off x="4329952" y="2407024"/>
            <a:ext cx="6790765" cy="3281082"/>
          </a:xfrm>
          <a:prstGeom prst="rect">
            <a:avLst/>
          </a:prstGeom>
        </p:spPr>
      </p:pic>
    </p:spTree>
    <p:extLst>
      <p:ext uri="{BB962C8B-B14F-4D97-AF65-F5344CB8AC3E}">
        <p14:creationId xmlns:p14="http://schemas.microsoft.com/office/powerpoint/2010/main" val="4150862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A8EC26-081C-4D01-BCE6-FFACE8DE6CF1}"/>
              </a:ext>
            </a:extLst>
          </p:cNvPr>
          <p:cNvSpPr txBox="1"/>
          <p:nvPr/>
        </p:nvSpPr>
        <p:spPr>
          <a:xfrm>
            <a:off x="416858" y="224135"/>
            <a:ext cx="11295530" cy="830997"/>
          </a:xfrm>
          <a:prstGeom prst="rect">
            <a:avLst/>
          </a:prstGeom>
          <a:noFill/>
        </p:spPr>
        <p:txBody>
          <a:bodyPr wrap="square">
            <a:spAutoFit/>
          </a:bodyPr>
          <a:lstStyle/>
          <a:p>
            <a:r>
              <a:rPr lang="en-IN" sz="2400" b="1" dirty="0">
                <a:solidFill>
                  <a:srgbClr val="FF0000"/>
                </a:solidFill>
              </a:rPr>
              <a:t>PLOT A BAR GRAPH INDICATING THE DISTRIBUTION OF SUM AND AVERAGE OF THE PERCENTAGE LOWER STATUS OF THE POPULATION IN TOP 5 TOWNS</a:t>
            </a:r>
          </a:p>
        </p:txBody>
      </p:sp>
      <p:sp>
        <p:nvSpPr>
          <p:cNvPr id="5" name="TextBox 4">
            <a:extLst>
              <a:ext uri="{FF2B5EF4-FFF2-40B4-BE49-F238E27FC236}">
                <a16:creationId xmlns:a16="http://schemas.microsoft.com/office/drawing/2014/main" id="{574492A6-FD07-4315-89C0-FDB6C7BB2740}"/>
              </a:ext>
            </a:extLst>
          </p:cNvPr>
          <p:cNvSpPr txBox="1"/>
          <p:nvPr/>
        </p:nvSpPr>
        <p:spPr>
          <a:xfrm>
            <a:off x="766483" y="2828836"/>
            <a:ext cx="3469342" cy="2554545"/>
          </a:xfrm>
          <a:prstGeom prst="rect">
            <a:avLst/>
          </a:prstGeom>
          <a:noFill/>
        </p:spPr>
        <p:txBody>
          <a:bodyPr wrap="square">
            <a:spAutoFit/>
          </a:bodyPr>
          <a:lstStyle/>
          <a:p>
            <a:r>
              <a:rPr lang="en-IN" sz="2000" dirty="0"/>
              <a:t>This visualization provides a comparative view of socioeconomic conditions across these communities, crucial for understanding disparities and guiding social policy interventions in Boston suburbs.</a:t>
            </a:r>
          </a:p>
        </p:txBody>
      </p:sp>
      <p:pic>
        <p:nvPicPr>
          <p:cNvPr id="6" name="Picture 5">
            <a:extLst>
              <a:ext uri="{FF2B5EF4-FFF2-40B4-BE49-F238E27FC236}">
                <a16:creationId xmlns:a16="http://schemas.microsoft.com/office/drawing/2014/main" id="{8C92D42E-6CE9-4499-B6FC-718AE3D7D0F0}"/>
              </a:ext>
            </a:extLst>
          </p:cNvPr>
          <p:cNvPicPr>
            <a:picLocks noChangeAspect="1"/>
          </p:cNvPicPr>
          <p:nvPr/>
        </p:nvPicPr>
        <p:blipFill>
          <a:blip r:embed="rId2"/>
          <a:stretch>
            <a:fillRect/>
          </a:stretch>
        </p:blipFill>
        <p:spPr>
          <a:xfrm>
            <a:off x="5230906" y="2031627"/>
            <a:ext cx="6078070" cy="3009900"/>
          </a:xfrm>
          <a:prstGeom prst="rect">
            <a:avLst/>
          </a:prstGeom>
        </p:spPr>
      </p:pic>
    </p:spTree>
    <p:extLst>
      <p:ext uri="{BB962C8B-B14F-4D97-AF65-F5344CB8AC3E}">
        <p14:creationId xmlns:p14="http://schemas.microsoft.com/office/powerpoint/2010/main" val="2775389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2D98C5-555E-46E7-8A86-CEBFEE802FA9}"/>
              </a:ext>
            </a:extLst>
          </p:cNvPr>
          <p:cNvSpPr txBox="1"/>
          <p:nvPr/>
        </p:nvSpPr>
        <p:spPr>
          <a:xfrm>
            <a:off x="551329" y="215154"/>
            <a:ext cx="11403106" cy="1200329"/>
          </a:xfrm>
          <a:prstGeom prst="rect">
            <a:avLst/>
          </a:prstGeom>
          <a:noFill/>
        </p:spPr>
        <p:txBody>
          <a:bodyPr wrap="square">
            <a:spAutoFit/>
          </a:bodyPr>
          <a:lstStyle/>
          <a:p>
            <a:r>
              <a:rPr lang="en-IN" sz="2400" b="1" dirty="0">
                <a:solidFill>
                  <a:srgbClr val="FF0000"/>
                </a:solidFill>
              </a:rPr>
              <a:t>HOW DOES PRODUCT THE MEDIAN VALUE OF OWNER OCCUPIED HOMES COMPARE ACROSS DIFFERENT TOWNS OR REGIONS? (IN DESCENDING ORDER AND FIND FOR BOTTOM 10)</a:t>
            </a:r>
          </a:p>
        </p:txBody>
      </p:sp>
      <p:sp>
        <p:nvSpPr>
          <p:cNvPr id="5" name="TextBox 4">
            <a:extLst>
              <a:ext uri="{FF2B5EF4-FFF2-40B4-BE49-F238E27FC236}">
                <a16:creationId xmlns:a16="http://schemas.microsoft.com/office/drawing/2014/main" id="{BE583F1F-4C19-43AD-8195-7D7A023FCF7D}"/>
              </a:ext>
            </a:extLst>
          </p:cNvPr>
          <p:cNvSpPr txBox="1"/>
          <p:nvPr/>
        </p:nvSpPr>
        <p:spPr>
          <a:xfrm>
            <a:off x="551329" y="2828836"/>
            <a:ext cx="3388659" cy="2862322"/>
          </a:xfrm>
          <a:prstGeom prst="rect">
            <a:avLst/>
          </a:prstGeom>
          <a:noFill/>
        </p:spPr>
        <p:txBody>
          <a:bodyPr wrap="square">
            <a:spAutoFit/>
          </a:bodyPr>
          <a:lstStyle/>
          <a:p>
            <a:pPr algn="ctr"/>
            <a:r>
              <a:rPr lang="en-IN" sz="2000" dirty="0"/>
              <a:t>This analysis offers insights into housing market variability and affordability challenges, essential for assessing economic disparities and informing housing policy decisions in Boston suburbs.</a:t>
            </a:r>
          </a:p>
        </p:txBody>
      </p:sp>
      <p:pic>
        <p:nvPicPr>
          <p:cNvPr id="6" name="Picture 5">
            <a:extLst>
              <a:ext uri="{FF2B5EF4-FFF2-40B4-BE49-F238E27FC236}">
                <a16:creationId xmlns:a16="http://schemas.microsoft.com/office/drawing/2014/main" id="{4DD537EE-557D-46C7-9327-263DB30A0A8F}"/>
              </a:ext>
            </a:extLst>
          </p:cNvPr>
          <p:cNvPicPr>
            <a:picLocks noChangeAspect="1"/>
          </p:cNvPicPr>
          <p:nvPr/>
        </p:nvPicPr>
        <p:blipFill>
          <a:blip r:embed="rId2"/>
          <a:stretch>
            <a:fillRect/>
          </a:stretch>
        </p:blipFill>
        <p:spPr>
          <a:xfrm>
            <a:off x="4235824" y="1952624"/>
            <a:ext cx="7543800" cy="3738533"/>
          </a:xfrm>
          <a:prstGeom prst="rect">
            <a:avLst/>
          </a:prstGeom>
        </p:spPr>
      </p:pic>
    </p:spTree>
    <p:extLst>
      <p:ext uri="{BB962C8B-B14F-4D97-AF65-F5344CB8AC3E}">
        <p14:creationId xmlns:p14="http://schemas.microsoft.com/office/powerpoint/2010/main" val="2027204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9CF05-4B99-4039-8DA7-9FC6229DE34D}"/>
              </a:ext>
            </a:extLst>
          </p:cNvPr>
          <p:cNvSpPr txBox="1"/>
          <p:nvPr/>
        </p:nvSpPr>
        <p:spPr>
          <a:xfrm>
            <a:off x="255494" y="268941"/>
            <a:ext cx="11752730" cy="830997"/>
          </a:xfrm>
          <a:prstGeom prst="rect">
            <a:avLst/>
          </a:prstGeom>
          <a:noFill/>
        </p:spPr>
        <p:txBody>
          <a:bodyPr wrap="square">
            <a:spAutoFit/>
          </a:bodyPr>
          <a:lstStyle/>
          <a:p>
            <a:r>
              <a:rPr lang="en-IN" sz="2400" b="1" dirty="0">
                <a:solidFill>
                  <a:srgbClr val="FF0000"/>
                </a:solidFill>
              </a:rPr>
              <a:t>GRAPHICALLY REPRESENT THE SUM OF FIRST TOP &amp; TOWNS WITH RESPECT TO PROPORTION OF NON-RETAIL BUSINESS ACRES PER TOWN</a:t>
            </a:r>
          </a:p>
        </p:txBody>
      </p:sp>
      <p:sp>
        <p:nvSpPr>
          <p:cNvPr id="5" name="TextBox 4">
            <a:extLst>
              <a:ext uri="{FF2B5EF4-FFF2-40B4-BE49-F238E27FC236}">
                <a16:creationId xmlns:a16="http://schemas.microsoft.com/office/drawing/2014/main" id="{01D88BE1-B629-4842-B532-BE3DD5921605}"/>
              </a:ext>
            </a:extLst>
          </p:cNvPr>
          <p:cNvSpPr txBox="1"/>
          <p:nvPr/>
        </p:nvSpPr>
        <p:spPr>
          <a:xfrm>
            <a:off x="618565" y="2828836"/>
            <a:ext cx="3012141" cy="3477875"/>
          </a:xfrm>
          <a:prstGeom prst="rect">
            <a:avLst/>
          </a:prstGeom>
          <a:noFill/>
        </p:spPr>
        <p:txBody>
          <a:bodyPr wrap="square">
            <a:spAutoFit/>
          </a:bodyPr>
          <a:lstStyle/>
          <a:p>
            <a:r>
              <a:rPr lang="en-IN" sz="2000" dirty="0"/>
              <a:t>This graphical representation offers a clear depiction of business distribution and economic activity levels across these communities, providing insights into local economic landscapes within Boston suburbs</a:t>
            </a:r>
          </a:p>
        </p:txBody>
      </p:sp>
      <p:pic>
        <p:nvPicPr>
          <p:cNvPr id="6" name="Picture 5">
            <a:extLst>
              <a:ext uri="{FF2B5EF4-FFF2-40B4-BE49-F238E27FC236}">
                <a16:creationId xmlns:a16="http://schemas.microsoft.com/office/drawing/2014/main" id="{31A3CE9B-B710-4ED5-A280-2972B953B811}"/>
              </a:ext>
            </a:extLst>
          </p:cNvPr>
          <p:cNvPicPr>
            <a:picLocks noChangeAspect="1"/>
          </p:cNvPicPr>
          <p:nvPr/>
        </p:nvPicPr>
        <p:blipFill>
          <a:blip r:embed="rId2"/>
          <a:stretch>
            <a:fillRect/>
          </a:stretch>
        </p:blipFill>
        <p:spPr>
          <a:xfrm>
            <a:off x="5042647" y="2176743"/>
            <a:ext cx="5741893" cy="3714750"/>
          </a:xfrm>
          <a:prstGeom prst="rect">
            <a:avLst/>
          </a:prstGeom>
        </p:spPr>
      </p:pic>
    </p:spTree>
    <p:extLst>
      <p:ext uri="{BB962C8B-B14F-4D97-AF65-F5344CB8AC3E}">
        <p14:creationId xmlns:p14="http://schemas.microsoft.com/office/powerpoint/2010/main" val="3256551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11FF39-AC27-448A-8EEC-4C0642161CE0}"/>
              </a:ext>
            </a:extLst>
          </p:cNvPr>
          <p:cNvSpPr txBox="1"/>
          <p:nvPr/>
        </p:nvSpPr>
        <p:spPr>
          <a:xfrm>
            <a:off x="215152" y="147919"/>
            <a:ext cx="11591365" cy="830997"/>
          </a:xfrm>
          <a:prstGeom prst="rect">
            <a:avLst/>
          </a:prstGeom>
          <a:noFill/>
        </p:spPr>
        <p:txBody>
          <a:bodyPr wrap="square">
            <a:spAutoFit/>
          </a:bodyPr>
          <a:lstStyle/>
          <a:p>
            <a:r>
              <a:rPr lang="en-IN" sz="2400" b="1" dirty="0">
                <a:solidFill>
                  <a:srgbClr val="FF0000"/>
                </a:solidFill>
              </a:rPr>
              <a:t>GRAPHICALLY REPRESENT THE SUM OF FIRST TOP 8 TOWNS WITH RESPECT TO PROPORTION OF NON-RETAIL BUSINESS ACRES PER TOWN.</a:t>
            </a:r>
          </a:p>
        </p:txBody>
      </p:sp>
      <p:sp>
        <p:nvSpPr>
          <p:cNvPr id="5" name="TextBox 4">
            <a:extLst>
              <a:ext uri="{FF2B5EF4-FFF2-40B4-BE49-F238E27FC236}">
                <a16:creationId xmlns:a16="http://schemas.microsoft.com/office/drawing/2014/main" id="{8C85373B-8605-423D-A588-89C56BC22A72}"/>
              </a:ext>
            </a:extLst>
          </p:cNvPr>
          <p:cNvSpPr txBox="1"/>
          <p:nvPr/>
        </p:nvSpPr>
        <p:spPr>
          <a:xfrm>
            <a:off x="309282" y="2828836"/>
            <a:ext cx="3334871" cy="2308324"/>
          </a:xfrm>
          <a:prstGeom prst="rect">
            <a:avLst/>
          </a:prstGeom>
          <a:noFill/>
        </p:spPr>
        <p:txBody>
          <a:bodyPr wrap="square">
            <a:spAutoFit/>
          </a:bodyPr>
          <a:lstStyle/>
          <a:p>
            <a:pPr algn="ctr"/>
            <a:r>
              <a:rPr lang="en-IN" dirty="0"/>
              <a:t>This visualization provides insights into housing accessibility relative to employment hubs, crucial for understanding residential preferences and urban development patterns in Boston suburbs.</a:t>
            </a:r>
          </a:p>
        </p:txBody>
      </p:sp>
      <p:pic>
        <p:nvPicPr>
          <p:cNvPr id="6" name="Picture 5">
            <a:extLst>
              <a:ext uri="{FF2B5EF4-FFF2-40B4-BE49-F238E27FC236}">
                <a16:creationId xmlns:a16="http://schemas.microsoft.com/office/drawing/2014/main" id="{01A38613-0026-4387-B89E-A43F7EC8D9C8}"/>
              </a:ext>
            </a:extLst>
          </p:cNvPr>
          <p:cNvPicPr>
            <a:picLocks noChangeAspect="1"/>
          </p:cNvPicPr>
          <p:nvPr/>
        </p:nvPicPr>
        <p:blipFill>
          <a:blip r:embed="rId2"/>
          <a:stretch>
            <a:fillRect/>
          </a:stretch>
        </p:blipFill>
        <p:spPr>
          <a:xfrm>
            <a:off x="4155141" y="1795462"/>
            <a:ext cx="7530352" cy="3267075"/>
          </a:xfrm>
          <a:prstGeom prst="rect">
            <a:avLst/>
          </a:prstGeom>
        </p:spPr>
      </p:pic>
    </p:spTree>
    <p:extLst>
      <p:ext uri="{BB962C8B-B14F-4D97-AF65-F5344CB8AC3E}">
        <p14:creationId xmlns:p14="http://schemas.microsoft.com/office/powerpoint/2010/main" val="3256624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C078D1-DEDE-48FE-A579-EA06E3C3BD7E}"/>
              </a:ext>
            </a:extLst>
          </p:cNvPr>
          <p:cNvSpPr txBox="1"/>
          <p:nvPr/>
        </p:nvSpPr>
        <p:spPr>
          <a:xfrm>
            <a:off x="497541" y="201706"/>
            <a:ext cx="11120718" cy="830997"/>
          </a:xfrm>
          <a:prstGeom prst="rect">
            <a:avLst/>
          </a:prstGeom>
          <a:noFill/>
        </p:spPr>
        <p:txBody>
          <a:bodyPr wrap="square">
            <a:spAutoFit/>
          </a:bodyPr>
          <a:lstStyle/>
          <a:p>
            <a:r>
              <a:rPr lang="en-IN" sz="2400" b="1" dirty="0">
                <a:solidFill>
                  <a:srgbClr val="FF0000"/>
                </a:solidFill>
              </a:rPr>
              <a:t>CALCULATE THE PUPIL-TEACHER RATIO BY TOWN WITH MAX OF NITRIC OXIDE CONCENTRATION AND PREPARE A PIOT CHART.</a:t>
            </a:r>
          </a:p>
        </p:txBody>
      </p:sp>
      <p:sp>
        <p:nvSpPr>
          <p:cNvPr id="5" name="TextBox 4">
            <a:extLst>
              <a:ext uri="{FF2B5EF4-FFF2-40B4-BE49-F238E27FC236}">
                <a16:creationId xmlns:a16="http://schemas.microsoft.com/office/drawing/2014/main" id="{642F1F41-333F-4173-B037-75B63DBAE205}"/>
              </a:ext>
            </a:extLst>
          </p:cNvPr>
          <p:cNvSpPr txBox="1"/>
          <p:nvPr/>
        </p:nvSpPr>
        <p:spPr>
          <a:xfrm>
            <a:off x="860613" y="2828836"/>
            <a:ext cx="2770094" cy="2308324"/>
          </a:xfrm>
          <a:prstGeom prst="rect">
            <a:avLst/>
          </a:prstGeom>
          <a:noFill/>
        </p:spPr>
        <p:txBody>
          <a:bodyPr wrap="square">
            <a:spAutoFit/>
          </a:bodyPr>
          <a:lstStyle/>
          <a:p>
            <a:pPr algn="ctr"/>
            <a:r>
              <a:rPr lang="en-IN" dirty="0"/>
              <a:t>A Line chart is prepared to visually represent this data, providing insights into educational resources relative to air quality levels in different areas of Boston suburbs</a:t>
            </a:r>
          </a:p>
        </p:txBody>
      </p:sp>
      <p:pic>
        <p:nvPicPr>
          <p:cNvPr id="6" name="Picture 5">
            <a:extLst>
              <a:ext uri="{FF2B5EF4-FFF2-40B4-BE49-F238E27FC236}">
                <a16:creationId xmlns:a16="http://schemas.microsoft.com/office/drawing/2014/main" id="{F9451ADA-88D3-406B-B759-BB6D2AC214C3}"/>
              </a:ext>
            </a:extLst>
          </p:cNvPr>
          <p:cNvPicPr>
            <a:picLocks noChangeAspect="1"/>
          </p:cNvPicPr>
          <p:nvPr/>
        </p:nvPicPr>
        <p:blipFill>
          <a:blip r:embed="rId2"/>
          <a:stretch>
            <a:fillRect/>
          </a:stretch>
        </p:blipFill>
        <p:spPr>
          <a:xfrm>
            <a:off x="3913093" y="1709737"/>
            <a:ext cx="7987553" cy="3438525"/>
          </a:xfrm>
          <a:prstGeom prst="rect">
            <a:avLst/>
          </a:prstGeom>
        </p:spPr>
      </p:pic>
    </p:spTree>
    <p:extLst>
      <p:ext uri="{BB962C8B-B14F-4D97-AF65-F5344CB8AC3E}">
        <p14:creationId xmlns:p14="http://schemas.microsoft.com/office/powerpoint/2010/main" val="3252586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66D6CE-7F90-4769-B3D5-D4D324DD533F}"/>
              </a:ext>
            </a:extLst>
          </p:cNvPr>
          <p:cNvSpPr txBox="1"/>
          <p:nvPr/>
        </p:nvSpPr>
        <p:spPr>
          <a:xfrm>
            <a:off x="121024" y="201707"/>
            <a:ext cx="11268635" cy="461665"/>
          </a:xfrm>
          <a:prstGeom prst="rect">
            <a:avLst/>
          </a:prstGeom>
          <a:noFill/>
        </p:spPr>
        <p:txBody>
          <a:bodyPr wrap="square">
            <a:spAutoFit/>
          </a:bodyPr>
          <a:lstStyle/>
          <a:p>
            <a:r>
              <a:rPr lang="en-IN" sz="2400" b="1" dirty="0">
                <a:solidFill>
                  <a:srgbClr val="FF0000"/>
                </a:solidFill>
              </a:rPr>
              <a:t>FIND THE LOWEST VALUE OF THE NITRIC OXIDE CONCENTRATION (NOX).</a:t>
            </a:r>
          </a:p>
        </p:txBody>
      </p:sp>
      <p:sp>
        <p:nvSpPr>
          <p:cNvPr id="8" name="TextBox 7">
            <a:extLst>
              <a:ext uri="{FF2B5EF4-FFF2-40B4-BE49-F238E27FC236}">
                <a16:creationId xmlns:a16="http://schemas.microsoft.com/office/drawing/2014/main" id="{946A6E84-4B50-4F1D-BE17-CB255861C270}"/>
              </a:ext>
            </a:extLst>
          </p:cNvPr>
          <p:cNvSpPr txBox="1"/>
          <p:nvPr/>
        </p:nvSpPr>
        <p:spPr>
          <a:xfrm>
            <a:off x="793376" y="2967335"/>
            <a:ext cx="3227295" cy="1938992"/>
          </a:xfrm>
          <a:prstGeom prst="rect">
            <a:avLst/>
          </a:prstGeom>
          <a:noFill/>
        </p:spPr>
        <p:txBody>
          <a:bodyPr wrap="square">
            <a:spAutoFit/>
          </a:bodyPr>
          <a:lstStyle/>
          <a:p>
            <a:r>
              <a:rPr lang="en-IN" sz="2000" dirty="0"/>
              <a:t>This metric is crucial for assessing air quality and environmental conditions in various locations across Boston suburbs</a:t>
            </a:r>
          </a:p>
        </p:txBody>
      </p:sp>
      <p:pic>
        <p:nvPicPr>
          <p:cNvPr id="9" name="Picture 8">
            <a:extLst>
              <a:ext uri="{FF2B5EF4-FFF2-40B4-BE49-F238E27FC236}">
                <a16:creationId xmlns:a16="http://schemas.microsoft.com/office/drawing/2014/main" id="{4BA83BFF-0485-4212-B917-35FDA437DD45}"/>
              </a:ext>
            </a:extLst>
          </p:cNvPr>
          <p:cNvPicPr>
            <a:picLocks noChangeAspect="1"/>
          </p:cNvPicPr>
          <p:nvPr/>
        </p:nvPicPr>
        <p:blipFill>
          <a:blip r:embed="rId2"/>
          <a:stretch>
            <a:fillRect/>
          </a:stretch>
        </p:blipFill>
        <p:spPr>
          <a:xfrm>
            <a:off x="4424082" y="1169894"/>
            <a:ext cx="6669742" cy="3925981"/>
          </a:xfrm>
          <a:prstGeom prst="rect">
            <a:avLst/>
          </a:prstGeom>
        </p:spPr>
      </p:pic>
    </p:spTree>
    <p:extLst>
      <p:ext uri="{BB962C8B-B14F-4D97-AF65-F5344CB8AC3E}">
        <p14:creationId xmlns:p14="http://schemas.microsoft.com/office/powerpoint/2010/main" val="3039247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40D607-EE42-4FED-9457-258FC3E13F9F}"/>
              </a:ext>
            </a:extLst>
          </p:cNvPr>
          <p:cNvSpPr txBox="1"/>
          <p:nvPr/>
        </p:nvSpPr>
        <p:spPr>
          <a:xfrm>
            <a:off x="470646" y="228600"/>
            <a:ext cx="11524129" cy="830997"/>
          </a:xfrm>
          <a:prstGeom prst="rect">
            <a:avLst/>
          </a:prstGeom>
          <a:noFill/>
        </p:spPr>
        <p:txBody>
          <a:bodyPr wrap="square">
            <a:spAutoFit/>
          </a:bodyPr>
          <a:lstStyle/>
          <a:p>
            <a:r>
              <a:rPr lang="en-IN" sz="2400" b="1" dirty="0">
                <a:solidFill>
                  <a:srgbClr val="FF0000"/>
                </a:solidFill>
              </a:rPr>
              <a:t>WHAT IS THE MINIMUM SUM OF THE PERCENTAGE LOWER STATUS OF THE POPULATION. (SOLVE USING FUNCTION AND PLOT A BAR GRAPH)</a:t>
            </a:r>
          </a:p>
        </p:txBody>
      </p:sp>
      <p:sp>
        <p:nvSpPr>
          <p:cNvPr id="5" name="TextBox 4">
            <a:extLst>
              <a:ext uri="{FF2B5EF4-FFF2-40B4-BE49-F238E27FC236}">
                <a16:creationId xmlns:a16="http://schemas.microsoft.com/office/drawing/2014/main" id="{EFCA145B-BA41-4255-A0A5-260322101A83}"/>
              </a:ext>
            </a:extLst>
          </p:cNvPr>
          <p:cNvSpPr txBox="1"/>
          <p:nvPr/>
        </p:nvSpPr>
        <p:spPr>
          <a:xfrm>
            <a:off x="954741" y="2828836"/>
            <a:ext cx="2743200" cy="2585323"/>
          </a:xfrm>
          <a:prstGeom prst="rect">
            <a:avLst/>
          </a:prstGeom>
          <a:noFill/>
        </p:spPr>
        <p:txBody>
          <a:bodyPr wrap="square">
            <a:spAutoFit/>
          </a:bodyPr>
          <a:lstStyle/>
          <a:p>
            <a:pPr algn="ctr"/>
            <a:r>
              <a:rPr lang="en-IN" dirty="0"/>
              <a:t>A bar graph is plotted to visually represent this data, providing insights into the socioeconomic distribution and disparities across different areas within Boston suburbs</a:t>
            </a:r>
          </a:p>
        </p:txBody>
      </p:sp>
      <p:pic>
        <p:nvPicPr>
          <p:cNvPr id="6" name="Picture 5">
            <a:extLst>
              <a:ext uri="{FF2B5EF4-FFF2-40B4-BE49-F238E27FC236}">
                <a16:creationId xmlns:a16="http://schemas.microsoft.com/office/drawing/2014/main" id="{7A119E96-4D87-4732-96FF-439499A6C0D5}"/>
              </a:ext>
            </a:extLst>
          </p:cNvPr>
          <p:cNvPicPr>
            <a:picLocks noChangeAspect="1"/>
          </p:cNvPicPr>
          <p:nvPr/>
        </p:nvPicPr>
        <p:blipFill>
          <a:blip r:embed="rId2"/>
          <a:stretch>
            <a:fillRect/>
          </a:stretch>
        </p:blipFill>
        <p:spPr>
          <a:xfrm>
            <a:off x="3872753" y="1681162"/>
            <a:ext cx="7486650" cy="3495675"/>
          </a:xfrm>
          <a:prstGeom prst="rect">
            <a:avLst/>
          </a:prstGeom>
        </p:spPr>
      </p:pic>
    </p:spTree>
    <p:extLst>
      <p:ext uri="{BB962C8B-B14F-4D97-AF65-F5344CB8AC3E}">
        <p14:creationId xmlns:p14="http://schemas.microsoft.com/office/powerpoint/2010/main" val="24126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834C22-7896-4915-A119-CEAE0C7FDE04}"/>
              </a:ext>
            </a:extLst>
          </p:cNvPr>
          <p:cNvSpPr txBox="1"/>
          <p:nvPr/>
        </p:nvSpPr>
        <p:spPr>
          <a:xfrm>
            <a:off x="537882" y="403413"/>
            <a:ext cx="10932459" cy="707886"/>
          </a:xfrm>
          <a:prstGeom prst="rect">
            <a:avLst/>
          </a:prstGeom>
          <a:noFill/>
        </p:spPr>
        <p:txBody>
          <a:bodyPr wrap="square">
            <a:spAutoFit/>
          </a:bodyPr>
          <a:lstStyle/>
          <a:p>
            <a:r>
              <a:rPr lang="en-IN" sz="2000" b="1" dirty="0">
                <a:solidFill>
                  <a:srgbClr val="FF0000"/>
                </a:solidFill>
              </a:rPr>
              <a:t>WHAT IS THE DISTRIBUTION OF AVERAGE BOTTOM 3 PROPORTION OF OWNER OCCUPIED UNITS BUILT PRIOR TO 1940 ACROSS DIFFERENT TOWNS?</a:t>
            </a:r>
          </a:p>
        </p:txBody>
      </p:sp>
      <p:sp>
        <p:nvSpPr>
          <p:cNvPr id="5" name="TextBox 4">
            <a:extLst>
              <a:ext uri="{FF2B5EF4-FFF2-40B4-BE49-F238E27FC236}">
                <a16:creationId xmlns:a16="http://schemas.microsoft.com/office/drawing/2014/main" id="{C40D0485-74E5-4FC1-8B23-C663D5A7B71F}"/>
              </a:ext>
            </a:extLst>
          </p:cNvPr>
          <p:cNvSpPr txBox="1"/>
          <p:nvPr/>
        </p:nvSpPr>
        <p:spPr>
          <a:xfrm>
            <a:off x="1196788" y="1546412"/>
            <a:ext cx="2850777" cy="2585323"/>
          </a:xfrm>
          <a:prstGeom prst="rect">
            <a:avLst/>
          </a:prstGeom>
          <a:noFill/>
        </p:spPr>
        <p:txBody>
          <a:bodyPr wrap="square">
            <a:spAutoFit/>
          </a:bodyPr>
          <a:lstStyle/>
          <a:p>
            <a:pPr algn="ctr"/>
            <a:r>
              <a:rPr lang="en-IN" dirty="0"/>
              <a:t>This examination provides insights into historical housing stock and preservation trends, essential for understanding urban development and architectural heritage in Boston suburbs.</a:t>
            </a:r>
          </a:p>
        </p:txBody>
      </p:sp>
      <p:pic>
        <p:nvPicPr>
          <p:cNvPr id="6" name="Picture 5">
            <a:extLst>
              <a:ext uri="{FF2B5EF4-FFF2-40B4-BE49-F238E27FC236}">
                <a16:creationId xmlns:a16="http://schemas.microsoft.com/office/drawing/2014/main" id="{7B1D1BF2-3208-4FFD-9240-E13C8110E6E4}"/>
              </a:ext>
            </a:extLst>
          </p:cNvPr>
          <p:cNvPicPr>
            <a:picLocks noChangeAspect="1"/>
          </p:cNvPicPr>
          <p:nvPr/>
        </p:nvPicPr>
        <p:blipFill>
          <a:blip r:embed="rId2"/>
          <a:stretch>
            <a:fillRect/>
          </a:stretch>
        </p:blipFill>
        <p:spPr>
          <a:xfrm>
            <a:off x="4585447" y="1790700"/>
            <a:ext cx="6884894" cy="3276600"/>
          </a:xfrm>
          <a:prstGeom prst="rect">
            <a:avLst/>
          </a:prstGeom>
        </p:spPr>
      </p:pic>
    </p:spTree>
    <p:extLst>
      <p:ext uri="{BB962C8B-B14F-4D97-AF65-F5344CB8AC3E}">
        <p14:creationId xmlns:p14="http://schemas.microsoft.com/office/powerpoint/2010/main" val="3808114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DAEFE1-4A68-4878-9579-5DCE4B86E663}"/>
              </a:ext>
            </a:extLst>
          </p:cNvPr>
          <p:cNvSpPr txBox="1"/>
          <p:nvPr/>
        </p:nvSpPr>
        <p:spPr>
          <a:xfrm>
            <a:off x="389965" y="336176"/>
            <a:ext cx="11430000" cy="1200329"/>
          </a:xfrm>
          <a:prstGeom prst="rect">
            <a:avLst/>
          </a:prstGeom>
          <a:noFill/>
        </p:spPr>
        <p:txBody>
          <a:bodyPr wrap="square">
            <a:spAutoFit/>
          </a:bodyPr>
          <a:lstStyle/>
          <a:p>
            <a:r>
              <a:rPr lang="en-IN" sz="2400" b="1" dirty="0">
                <a:solidFill>
                  <a:srgbClr val="FF0000"/>
                </a:solidFill>
              </a:rPr>
              <a:t>PREPARE TWO DIFFERENT PIE CHARTS VISUALISING THE AVERAGE AND SUM OF THE PROPORTION OF RESIDENTIAL LAND ZONED FOR TOTS OVER 25,000 SQ.FT. IN ANY 5 TOWNS</a:t>
            </a:r>
          </a:p>
        </p:txBody>
      </p:sp>
      <p:pic>
        <p:nvPicPr>
          <p:cNvPr id="4" name="Picture 3">
            <a:extLst>
              <a:ext uri="{FF2B5EF4-FFF2-40B4-BE49-F238E27FC236}">
                <a16:creationId xmlns:a16="http://schemas.microsoft.com/office/drawing/2014/main" id="{64F0330E-176A-4FAD-A0CB-E09FCD52571C}"/>
              </a:ext>
            </a:extLst>
          </p:cNvPr>
          <p:cNvPicPr>
            <a:picLocks noChangeAspect="1"/>
          </p:cNvPicPr>
          <p:nvPr/>
        </p:nvPicPr>
        <p:blipFill>
          <a:blip r:embed="rId2"/>
          <a:stretch>
            <a:fillRect/>
          </a:stretch>
        </p:blipFill>
        <p:spPr>
          <a:xfrm>
            <a:off x="2691653" y="1536505"/>
            <a:ext cx="9258300" cy="2542054"/>
          </a:xfrm>
          <a:prstGeom prst="rect">
            <a:avLst/>
          </a:prstGeom>
        </p:spPr>
      </p:pic>
      <p:sp>
        <p:nvSpPr>
          <p:cNvPr id="6" name="TextBox 5">
            <a:extLst>
              <a:ext uri="{FF2B5EF4-FFF2-40B4-BE49-F238E27FC236}">
                <a16:creationId xmlns:a16="http://schemas.microsoft.com/office/drawing/2014/main" id="{D78BC516-EFA1-44C5-9E62-F4E69FA56720}"/>
              </a:ext>
            </a:extLst>
          </p:cNvPr>
          <p:cNvSpPr txBox="1"/>
          <p:nvPr/>
        </p:nvSpPr>
        <p:spPr>
          <a:xfrm>
            <a:off x="242047" y="2967334"/>
            <a:ext cx="2622177" cy="2339102"/>
          </a:xfrm>
          <a:prstGeom prst="rect">
            <a:avLst/>
          </a:prstGeom>
          <a:noFill/>
        </p:spPr>
        <p:txBody>
          <a:bodyPr wrap="square">
            <a:spAutoFit/>
          </a:bodyPr>
          <a:lstStyle/>
          <a:p>
            <a:pPr algn="ctr"/>
            <a:r>
              <a:rPr lang="en-IN" dirty="0"/>
              <a:t>These visualizations provide insights into land use regulations and urban planning priorities across different</a:t>
            </a:r>
            <a:r>
              <a:rPr lang="en-IN" sz="2000" dirty="0"/>
              <a:t> </a:t>
            </a:r>
            <a:r>
              <a:rPr lang="en-IN" dirty="0" err="1"/>
              <a:t>neighborhoods</a:t>
            </a:r>
            <a:r>
              <a:rPr lang="en-IN" dirty="0"/>
              <a:t> in Boston suburbs.</a:t>
            </a:r>
          </a:p>
        </p:txBody>
      </p:sp>
    </p:spTree>
    <p:extLst>
      <p:ext uri="{BB962C8B-B14F-4D97-AF65-F5344CB8AC3E}">
        <p14:creationId xmlns:p14="http://schemas.microsoft.com/office/powerpoint/2010/main" val="3214672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B8ED9E-2C49-4DB8-B456-840C06120D7D}"/>
              </a:ext>
            </a:extLst>
          </p:cNvPr>
          <p:cNvSpPr txBox="1"/>
          <p:nvPr/>
        </p:nvSpPr>
        <p:spPr>
          <a:xfrm>
            <a:off x="268940" y="363071"/>
            <a:ext cx="11672047" cy="707886"/>
          </a:xfrm>
          <a:prstGeom prst="rect">
            <a:avLst/>
          </a:prstGeom>
          <a:noFill/>
        </p:spPr>
        <p:txBody>
          <a:bodyPr wrap="square">
            <a:spAutoFit/>
          </a:bodyPr>
          <a:lstStyle/>
          <a:p>
            <a:r>
              <a:rPr lang="en-IN" sz="2000" b="1" dirty="0">
                <a:solidFill>
                  <a:srgbClr val="FF0000"/>
                </a:solidFill>
              </a:rPr>
              <a:t>AVERAGE OF ANY 4 TOWNS HAVING DIFFERENT PROPORTION OF OWNER OCCUPIED UNITS BUILT PRIOR TO 1940</a:t>
            </a:r>
          </a:p>
        </p:txBody>
      </p:sp>
      <p:pic>
        <p:nvPicPr>
          <p:cNvPr id="4" name="Picture 3">
            <a:extLst>
              <a:ext uri="{FF2B5EF4-FFF2-40B4-BE49-F238E27FC236}">
                <a16:creationId xmlns:a16="http://schemas.microsoft.com/office/drawing/2014/main" id="{EB1F7FAC-2E17-4816-9189-DF10064615D2}"/>
              </a:ext>
            </a:extLst>
          </p:cNvPr>
          <p:cNvPicPr>
            <a:picLocks noChangeAspect="1"/>
          </p:cNvPicPr>
          <p:nvPr/>
        </p:nvPicPr>
        <p:blipFill>
          <a:blip r:embed="rId2"/>
          <a:stretch>
            <a:fillRect/>
          </a:stretch>
        </p:blipFill>
        <p:spPr>
          <a:xfrm>
            <a:off x="3509682" y="1752600"/>
            <a:ext cx="8682317" cy="3352800"/>
          </a:xfrm>
          <a:prstGeom prst="rect">
            <a:avLst/>
          </a:prstGeom>
        </p:spPr>
      </p:pic>
      <p:sp>
        <p:nvSpPr>
          <p:cNvPr id="6" name="TextBox 5">
            <a:extLst>
              <a:ext uri="{FF2B5EF4-FFF2-40B4-BE49-F238E27FC236}">
                <a16:creationId xmlns:a16="http://schemas.microsoft.com/office/drawing/2014/main" id="{96AF8AB8-1783-4924-B29F-1C8AB5F1F226}"/>
              </a:ext>
            </a:extLst>
          </p:cNvPr>
          <p:cNvSpPr txBox="1"/>
          <p:nvPr/>
        </p:nvSpPr>
        <p:spPr>
          <a:xfrm>
            <a:off x="465044" y="2967335"/>
            <a:ext cx="2869827" cy="2246769"/>
          </a:xfrm>
          <a:prstGeom prst="rect">
            <a:avLst/>
          </a:prstGeom>
          <a:noFill/>
        </p:spPr>
        <p:txBody>
          <a:bodyPr wrap="square">
            <a:spAutoFit/>
          </a:bodyPr>
          <a:lstStyle/>
          <a:p>
            <a:pPr algn="ctr"/>
            <a:r>
              <a:rPr lang="en-IN" sz="2000" dirty="0"/>
              <a:t>This analysis offers insights into preservation efforts and demographic trends shaping residential areas within Boston suburbs.</a:t>
            </a:r>
          </a:p>
        </p:txBody>
      </p:sp>
    </p:spTree>
    <p:extLst>
      <p:ext uri="{BB962C8B-B14F-4D97-AF65-F5344CB8AC3E}">
        <p14:creationId xmlns:p14="http://schemas.microsoft.com/office/powerpoint/2010/main" val="4015688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0362D6-23CE-430D-A572-5193C6083576}"/>
              </a:ext>
            </a:extLst>
          </p:cNvPr>
          <p:cNvSpPr txBox="1"/>
          <p:nvPr/>
        </p:nvSpPr>
        <p:spPr>
          <a:xfrm>
            <a:off x="591671" y="443754"/>
            <a:ext cx="11053482" cy="707886"/>
          </a:xfrm>
          <a:prstGeom prst="rect">
            <a:avLst/>
          </a:prstGeom>
          <a:noFill/>
        </p:spPr>
        <p:txBody>
          <a:bodyPr wrap="square">
            <a:spAutoFit/>
          </a:bodyPr>
          <a:lstStyle/>
          <a:p>
            <a:r>
              <a:rPr lang="en-IN" sz="2000" b="1" dirty="0">
                <a:solidFill>
                  <a:srgbClr val="FF0000"/>
                </a:solidFill>
              </a:rPr>
              <a:t>HOW DOES THE SUM OF PERCENTAGE LOWER STATUS OF THE POPULATION COMPARE WITH THE SUM OF AVERAGE NUMBER OF ROOMS BY TOWN? (FOR TOP 4)</a:t>
            </a:r>
          </a:p>
        </p:txBody>
      </p:sp>
      <p:sp>
        <p:nvSpPr>
          <p:cNvPr id="5" name="TextBox 4">
            <a:extLst>
              <a:ext uri="{FF2B5EF4-FFF2-40B4-BE49-F238E27FC236}">
                <a16:creationId xmlns:a16="http://schemas.microsoft.com/office/drawing/2014/main" id="{1B63DFE7-7194-4739-AE33-3B05DC8103D9}"/>
              </a:ext>
            </a:extLst>
          </p:cNvPr>
          <p:cNvSpPr txBox="1"/>
          <p:nvPr/>
        </p:nvSpPr>
        <p:spPr>
          <a:xfrm>
            <a:off x="591672" y="2967335"/>
            <a:ext cx="3926540" cy="1477328"/>
          </a:xfrm>
          <a:prstGeom prst="rect">
            <a:avLst/>
          </a:prstGeom>
          <a:noFill/>
        </p:spPr>
        <p:txBody>
          <a:bodyPr wrap="square">
            <a:spAutoFit/>
          </a:bodyPr>
          <a:lstStyle/>
          <a:p>
            <a:pPr algn="ctr"/>
            <a:r>
              <a:rPr lang="en-IN" dirty="0"/>
              <a:t>This analysis provides insights for understanding community dynamics and guiding equitable development strategies in Boston suburbs.</a:t>
            </a:r>
          </a:p>
        </p:txBody>
      </p:sp>
      <p:pic>
        <p:nvPicPr>
          <p:cNvPr id="6" name="Picture 5">
            <a:extLst>
              <a:ext uri="{FF2B5EF4-FFF2-40B4-BE49-F238E27FC236}">
                <a16:creationId xmlns:a16="http://schemas.microsoft.com/office/drawing/2014/main" id="{D0985BE0-99F0-4050-A4A7-DFAF3536DE25}"/>
              </a:ext>
            </a:extLst>
          </p:cNvPr>
          <p:cNvPicPr>
            <a:picLocks noChangeAspect="1"/>
          </p:cNvPicPr>
          <p:nvPr/>
        </p:nvPicPr>
        <p:blipFill>
          <a:blip r:embed="rId2"/>
          <a:stretch>
            <a:fillRect/>
          </a:stretch>
        </p:blipFill>
        <p:spPr>
          <a:xfrm>
            <a:off x="4612340" y="1676400"/>
            <a:ext cx="6158753" cy="3505200"/>
          </a:xfrm>
          <a:prstGeom prst="rect">
            <a:avLst/>
          </a:prstGeom>
        </p:spPr>
      </p:pic>
    </p:spTree>
    <p:extLst>
      <p:ext uri="{BB962C8B-B14F-4D97-AF65-F5344CB8AC3E}">
        <p14:creationId xmlns:p14="http://schemas.microsoft.com/office/powerpoint/2010/main" val="9336227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23B21F-DB83-43D6-9EF8-1D03D106B45F}"/>
              </a:ext>
            </a:extLst>
          </p:cNvPr>
          <p:cNvSpPr txBox="1"/>
          <p:nvPr/>
        </p:nvSpPr>
        <p:spPr>
          <a:xfrm>
            <a:off x="295835" y="309282"/>
            <a:ext cx="11174506" cy="707886"/>
          </a:xfrm>
          <a:prstGeom prst="rect">
            <a:avLst/>
          </a:prstGeom>
          <a:noFill/>
        </p:spPr>
        <p:txBody>
          <a:bodyPr wrap="square">
            <a:spAutoFit/>
          </a:bodyPr>
          <a:lstStyle/>
          <a:p>
            <a:r>
              <a:rPr lang="en-IN" sz="2000" b="1" dirty="0">
                <a:solidFill>
                  <a:srgbClr val="FF0000"/>
                </a:solidFill>
              </a:rPr>
              <a:t>GRAPHICALLY REPRESENT THE SUM OFBOTTOM 6 TOWNS WITH RESPECT TO THE WEIGHTED DISTANCES TO FIVE BOSTON EMPLOYMENT CENTRES</a:t>
            </a:r>
          </a:p>
        </p:txBody>
      </p:sp>
      <p:sp>
        <p:nvSpPr>
          <p:cNvPr id="5" name="TextBox 4">
            <a:extLst>
              <a:ext uri="{FF2B5EF4-FFF2-40B4-BE49-F238E27FC236}">
                <a16:creationId xmlns:a16="http://schemas.microsoft.com/office/drawing/2014/main" id="{0422935D-40C8-4AD2-B4C5-C9A1084C782D}"/>
              </a:ext>
            </a:extLst>
          </p:cNvPr>
          <p:cNvSpPr txBox="1"/>
          <p:nvPr/>
        </p:nvSpPr>
        <p:spPr>
          <a:xfrm>
            <a:off x="712694" y="1680881"/>
            <a:ext cx="3267635" cy="2308324"/>
          </a:xfrm>
          <a:prstGeom prst="rect">
            <a:avLst/>
          </a:prstGeom>
          <a:noFill/>
        </p:spPr>
        <p:txBody>
          <a:bodyPr wrap="square">
            <a:spAutoFit/>
          </a:bodyPr>
          <a:lstStyle/>
          <a:p>
            <a:pPr algn="ctr"/>
            <a:r>
              <a:rPr lang="en-IN" dirty="0"/>
              <a:t>This graphical representation provides insights into accessibility to employment hubs and urban development patterns in less centrally located areas of Boston suburbs.</a:t>
            </a:r>
          </a:p>
        </p:txBody>
      </p:sp>
      <p:pic>
        <p:nvPicPr>
          <p:cNvPr id="6" name="Picture 5">
            <a:extLst>
              <a:ext uri="{FF2B5EF4-FFF2-40B4-BE49-F238E27FC236}">
                <a16:creationId xmlns:a16="http://schemas.microsoft.com/office/drawing/2014/main" id="{4B330465-7EAA-45C7-AB58-E3F20D517E35}"/>
              </a:ext>
            </a:extLst>
          </p:cNvPr>
          <p:cNvPicPr>
            <a:picLocks noChangeAspect="1"/>
          </p:cNvPicPr>
          <p:nvPr/>
        </p:nvPicPr>
        <p:blipFill>
          <a:blip r:embed="rId2"/>
          <a:stretch>
            <a:fillRect/>
          </a:stretch>
        </p:blipFill>
        <p:spPr>
          <a:xfrm>
            <a:off x="4424082" y="1590675"/>
            <a:ext cx="7261411" cy="3676650"/>
          </a:xfrm>
          <a:prstGeom prst="rect">
            <a:avLst/>
          </a:prstGeom>
        </p:spPr>
      </p:pic>
    </p:spTree>
    <p:extLst>
      <p:ext uri="{BB962C8B-B14F-4D97-AF65-F5344CB8AC3E}">
        <p14:creationId xmlns:p14="http://schemas.microsoft.com/office/powerpoint/2010/main" val="20111278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54C39-2FFD-468C-BD93-06374D815297}"/>
              </a:ext>
            </a:extLst>
          </p:cNvPr>
          <p:cNvSpPr>
            <a:spLocks noGrp="1"/>
          </p:cNvSpPr>
          <p:nvPr>
            <p:ph type="ctrTitle"/>
          </p:nvPr>
        </p:nvSpPr>
        <p:spPr>
          <a:xfrm>
            <a:off x="1751012" y="609601"/>
            <a:ext cx="8676222" cy="587187"/>
          </a:xfrm>
        </p:spPr>
        <p:txBody>
          <a:bodyPr>
            <a:normAutofit/>
          </a:bodyPr>
          <a:lstStyle/>
          <a:p>
            <a:r>
              <a:rPr lang="en-IN" sz="2400" b="1" dirty="0">
                <a:solidFill>
                  <a:srgbClr val="FF0000"/>
                </a:solidFill>
              </a:rPr>
              <a:t>CONCLUSION</a:t>
            </a:r>
            <a:r>
              <a:rPr lang="en-IN" sz="2400" dirty="0"/>
              <a:t>:</a:t>
            </a:r>
          </a:p>
        </p:txBody>
      </p:sp>
      <p:sp>
        <p:nvSpPr>
          <p:cNvPr id="3" name="Subtitle 2">
            <a:extLst>
              <a:ext uri="{FF2B5EF4-FFF2-40B4-BE49-F238E27FC236}">
                <a16:creationId xmlns:a16="http://schemas.microsoft.com/office/drawing/2014/main" id="{E31A2059-D55B-4932-83BE-655F386062C9}"/>
              </a:ext>
            </a:extLst>
          </p:cNvPr>
          <p:cNvSpPr>
            <a:spLocks noGrp="1"/>
          </p:cNvSpPr>
          <p:nvPr>
            <p:ph type="subTitle" idx="1"/>
          </p:nvPr>
        </p:nvSpPr>
        <p:spPr>
          <a:xfrm>
            <a:off x="1143000" y="1949823"/>
            <a:ext cx="9284234" cy="3841377"/>
          </a:xfrm>
        </p:spPr>
        <p:txBody>
          <a:bodyPr>
            <a:normAutofit fontScale="92500" lnSpcReduction="20000"/>
          </a:bodyPr>
          <a:lstStyle/>
          <a:p>
            <a:pPr marL="342900" indent="-342900">
              <a:buAutoNum type="arabicPeriod"/>
            </a:pPr>
            <a:r>
              <a:rPr lang="en-US" sz="2000" dirty="0"/>
              <a:t>ACTORS INFLUENCING HOUSING PRICES: THE DATASET REVEALS THAT FACTORS SUCH AS CRIME RATES, PROXIMITY TO EMPLOYMENT CENTERS, AND ACCESS TO AMENITIES SIGNIFICANTLY IMPACT HOUSING PRICES IN BOSTON SUBURBS.</a:t>
            </a:r>
          </a:p>
          <a:p>
            <a:pPr marL="342900" indent="-342900">
              <a:buAutoNum type="arabicPeriod"/>
            </a:pPr>
            <a:r>
              <a:rPr lang="en-US" sz="2000" dirty="0"/>
              <a:t>PREDICTIVE IACCESSIBILITYNSIGHTS: BY ANALYZING VARIABLES LIKE PROPERTY TAX RATES AND HIGHWAY, PATTERNS AND CORRELATIONS EMERGE THAT HELP PREDICT FUTURE TRENDS IN THE HOUSING MARKET.</a:t>
            </a:r>
          </a:p>
          <a:p>
            <a:r>
              <a:rPr lang="en-US" sz="2000" dirty="0"/>
              <a:t>3. POLICY AND PLANNING: INSIGHTS FROM THE DATASET INFORM POLICYMAKERS AND URBAN PLANNERS IN MAKING DECISIONS RELATED TO ZONING, INFRASTRUCTURE DEVELOPMENT, AND AFFORDABLE HOUSING INITIATIVES.</a:t>
            </a:r>
          </a:p>
          <a:p>
            <a:r>
              <a:rPr lang="en-US" sz="2200" dirty="0"/>
              <a:t>4. INVESTMENT OPPORTUNITIES: INVESTORS CAN USE THE DATASET TO IDENTIFY PROFITABLE OPPORTUNITIES AND ASSESS MARKET RISKS BASED ON HISTORICAL AND CURRENT HOUSING DATA.</a:t>
            </a:r>
            <a:endParaRPr lang="en-IN" sz="2200" dirty="0"/>
          </a:p>
        </p:txBody>
      </p:sp>
    </p:spTree>
    <p:extLst>
      <p:ext uri="{BB962C8B-B14F-4D97-AF65-F5344CB8AC3E}">
        <p14:creationId xmlns:p14="http://schemas.microsoft.com/office/powerpoint/2010/main" val="11272254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69E8C7-0A25-449F-90BB-E9AB7B4F0A39}"/>
              </a:ext>
            </a:extLst>
          </p:cNvPr>
          <p:cNvSpPr txBox="1"/>
          <p:nvPr/>
        </p:nvSpPr>
        <p:spPr>
          <a:xfrm>
            <a:off x="3049121" y="3244334"/>
            <a:ext cx="6098240" cy="584775"/>
          </a:xfrm>
          <a:prstGeom prst="rect">
            <a:avLst/>
          </a:prstGeom>
          <a:noFill/>
        </p:spPr>
        <p:txBody>
          <a:bodyPr wrap="square">
            <a:spAutoFit/>
          </a:bodyPr>
          <a:lstStyle/>
          <a:p>
            <a:pPr algn="ctr"/>
            <a:r>
              <a:rPr lang="en-IN" sz="3200" b="1" i="1" dirty="0">
                <a:solidFill>
                  <a:srgbClr val="92D050"/>
                </a:solidFill>
              </a:rPr>
              <a:t>Thank you</a:t>
            </a:r>
          </a:p>
        </p:txBody>
      </p:sp>
    </p:spTree>
    <p:extLst>
      <p:ext uri="{BB962C8B-B14F-4D97-AF65-F5344CB8AC3E}">
        <p14:creationId xmlns:p14="http://schemas.microsoft.com/office/powerpoint/2010/main" val="23606886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172</TotalTime>
  <Words>1221</Words>
  <Application>Microsoft Office PowerPoint</Application>
  <PresentationFormat>Widescreen</PresentationFormat>
  <Paragraphs>50</Paragraphs>
  <Slides>26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Century Gothic</vt:lpstr>
      <vt:lpstr>Mesh</vt:lpstr>
      <vt:lpstr>BOSTON HOUSING…</vt:lpstr>
      <vt:lpstr>PowerPoint Presentation</vt:lpstr>
      <vt:lpstr>PowerPoint Presentation</vt:lpstr>
      <vt:lpstr>DASHBOARD The Boston Housing dataset dashboard presents a comprehensive overview of housing market variables in Boston suburbs. It includes visualizations such as Bar charts for exploring relationships between features like crime rates and property values, histograms for understanding data distributions, and maps showing geographical trends. </vt:lpstr>
      <vt:lpstr>KEY QUESTIONS ADDRESSED BY THE BOSTON HOUSING DATASET</vt:lpstr>
      <vt:lpstr>QUESTIONS:-</vt:lpstr>
      <vt:lpstr>QUETIONS:-</vt:lpstr>
      <vt:lpstr>Highlight the rows having the full-value property -tax rate per $10,000 more the $600    This scrutiny helps pinpoint areas with higher tax burdens, essential for assessing affordability and economic implications within Boston's housing market landscape.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BOSTON HOUSING…</dc:title>
  <dc:creator>SHREE</dc:creator>
  <cp:lastModifiedBy>SHREE</cp:lastModifiedBy>
  <cp:revision>33</cp:revision>
  <dcterms:created xsi:type="dcterms:W3CDTF">2024-07-16T12:42:02Z</dcterms:created>
  <dcterms:modified xsi:type="dcterms:W3CDTF">2024-07-17T08:52:33Z</dcterms:modified>
</cp:coreProperties>
</file>